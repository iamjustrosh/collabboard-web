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serrat Bold" charset="1" panose="00000800000000000000"/>
      <p:regular r:id="rId21"/>
    </p:embeddedFont>
    <p:embeddedFont>
      <p:font typeface="Montserrat" charset="1" panose="00000500000000000000"/>
      <p:regular r:id="rId22"/>
    </p:embeddedFont>
    <p:embeddedFont>
      <p:font typeface="DM Sans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https://collabboard-web.vercel.app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81312" y="2420161"/>
            <a:ext cx="10204548" cy="5446677"/>
          </a:xfrm>
          <a:custGeom>
            <a:avLst/>
            <a:gdLst/>
            <a:ahLst/>
            <a:cxnLst/>
            <a:rect r="r" b="b" t="t" l="l"/>
            <a:pathLst>
              <a:path h="5446677" w="10204548">
                <a:moveTo>
                  <a:pt x="0" y="0"/>
                </a:moveTo>
                <a:lnTo>
                  <a:pt x="10204547" y="0"/>
                </a:lnTo>
                <a:lnTo>
                  <a:pt x="10204547" y="5446678"/>
                </a:lnTo>
                <a:lnTo>
                  <a:pt x="0" y="5446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2750" y="2700238"/>
            <a:ext cx="6968251" cy="1276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6"/>
              </a:lnSpc>
            </a:pPr>
            <a:r>
              <a:rPr lang="en-US" sz="835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CollabBoard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2750" y="4025935"/>
            <a:ext cx="10069593" cy="27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7"/>
              </a:lnSpc>
            </a:pPr>
            <a:r>
              <a:rPr lang="en-US" sz="44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Real-Time Collaborative Whiteboard &amp; Code Editor Desktop Application</a:t>
            </a:r>
          </a:p>
          <a:p>
            <a:pPr algn="l">
              <a:lnSpc>
                <a:spcPts val="538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62750" y="6314519"/>
            <a:ext cx="7005726" cy="42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Happy Mishra | 0302CS221045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2750" y="6732962"/>
            <a:ext cx="7005726" cy="42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Nikita Pandey | 0302CS221068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2750" y="7151404"/>
            <a:ext cx="7005726" cy="42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Roshan Jain    | 0302CS221111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-1256469" y="-601830"/>
            <a:ext cx="4815134" cy="1950129"/>
          </a:xfrm>
          <a:custGeom>
            <a:avLst/>
            <a:gdLst/>
            <a:ahLst/>
            <a:cxnLst/>
            <a:rect r="r" b="b" t="t" l="l"/>
            <a:pathLst>
              <a:path h="1950129" w="4815134">
                <a:moveTo>
                  <a:pt x="0" y="0"/>
                </a:moveTo>
                <a:lnTo>
                  <a:pt x="4815135" y="0"/>
                </a:lnTo>
                <a:lnTo>
                  <a:pt x="4815135" y="1950129"/>
                </a:lnTo>
                <a:lnTo>
                  <a:pt x="0" y="1950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91134" y="1028700"/>
            <a:ext cx="910573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1"/>
              </a:lnSpc>
            </a:pPr>
            <a:r>
              <a:rPr lang="en-US" sz="62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is</a:t>
            </a:r>
            <a:r>
              <a:rPr lang="en-US" sz="62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24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CollabBoard?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544261"/>
            <a:ext cx="12577017" cy="85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2"/>
              </a:lnSpc>
            </a:pPr>
            <a:r>
              <a:rPr lang="en-US" sz="557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Pr</a:t>
            </a:r>
            <a:r>
              <a:rPr lang="en-US" sz="557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oblem Solved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939205"/>
            <a:ext cx="12577017" cy="85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2"/>
              </a:lnSpc>
            </a:pPr>
            <a:r>
              <a:rPr lang="en-US" sz="557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Two-Part Ec</a:t>
            </a:r>
            <a:r>
              <a:rPr lang="en-US" sz="557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23310"/>
            <a:ext cx="13381219" cy="115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1"/>
              </a:lnSpc>
            </a:pPr>
            <a:r>
              <a:rPr lang="en-US" sz="37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Eliminates the need to juggle separate apps for whiteboarding, c</a:t>
            </a:r>
            <a:r>
              <a:rPr lang="en-US" sz="37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ode sharing, and video conferencing.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982925"/>
            <a:ext cx="14396238" cy="230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7117" indent="-408559" lvl="1">
              <a:lnSpc>
                <a:spcPts val="4541"/>
              </a:lnSpc>
              <a:buFont typeface="Arial"/>
              <a:buChar char="•"/>
            </a:pPr>
            <a:r>
              <a:rPr lang="en-US" b="true" sz="37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Desktop App</a:t>
            </a:r>
            <a:r>
              <a:rPr lang="en-US" sz="37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The core workstation powered by Electron.</a:t>
            </a:r>
          </a:p>
          <a:p>
            <a:pPr algn="l" marL="817117" indent="-408559" lvl="1">
              <a:lnSpc>
                <a:spcPts val="4541"/>
              </a:lnSpc>
              <a:buFont typeface="Arial"/>
              <a:buChar char="•"/>
            </a:pPr>
            <a:r>
              <a:rPr lang="en-US" b="true" sz="37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 Platform</a:t>
            </a:r>
            <a:r>
              <a:rPr lang="en-US" sz="37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A marketing, </a:t>
            </a:r>
            <a:r>
              <a:rPr lang="en-US" sz="37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documentation, and distribution hub.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63062" y="2328871"/>
            <a:ext cx="12561877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comprehensive desktop application and accompanying web platform designed for remote teams and developers.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967358" y="-2343085"/>
            <a:ext cx="1049274" cy="4114800"/>
          </a:xfrm>
          <a:custGeom>
            <a:avLst/>
            <a:gdLst/>
            <a:ahLst/>
            <a:cxnLst/>
            <a:rect r="r" b="b" t="t" l="l"/>
            <a:pathLst>
              <a:path h="4114800" w="1049274">
                <a:moveTo>
                  <a:pt x="0" y="0"/>
                </a:moveTo>
                <a:lnTo>
                  <a:pt x="1049274" y="0"/>
                </a:lnTo>
                <a:lnTo>
                  <a:pt x="1049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79155"/>
            <a:ext cx="10815392" cy="106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1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Th</a:t>
            </a:r>
            <a:r>
              <a:rPr lang="en-US" sz="6981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6981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55676"/>
            <a:ext cx="10650234" cy="71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7"/>
              </a:lnSpc>
            </a:pPr>
            <a:r>
              <a:rPr lang="en-US" sz="472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Ec</a:t>
            </a:r>
            <a:r>
              <a:rPr lang="en-US" sz="472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16715"/>
            <a:ext cx="10650234" cy="71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7"/>
              </a:lnSpc>
            </a:pPr>
            <a:r>
              <a:rPr lang="en-US" sz="472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Desktop Environmen</a:t>
            </a:r>
            <a:r>
              <a:rPr lang="en-US" sz="472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105045"/>
            <a:ext cx="10650234" cy="71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7"/>
              </a:lnSpc>
            </a:pPr>
            <a:r>
              <a:rPr lang="en-US" sz="472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Integrations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81361"/>
            <a:ext cx="10650234" cy="71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7"/>
              </a:lnSpc>
            </a:pPr>
            <a:r>
              <a:rPr lang="en-US" sz="472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&amp; Infrastructure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001515"/>
            <a:ext cx="11331234" cy="47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React 18/19, Vite, Tailwind CSS, Framer Moti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on, GSAP.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462554"/>
            <a:ext cx="11331234" cy="47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Electr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 39.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850885"/>
            <a:ext cx="11331234" cy="47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tldraw (whiteboard), M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onaco Editor (code).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927200"/>
            <a:ext cx="11331234" cy="193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320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 &amp; Realtime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Supabase (Auth, Realtime channels).</a:t>
            </a:r>
          </a:p>
          <a:p>
            <a:pPr algn="l">
              <a:lnSpc>
                <a:spcPts val="3845"/>
              </a:lnSpc>
            </a:pPr>
            <a:r>
              <a:rPr lang="en-US" sz="320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 Executi</a:t>
            </a:r>
            <a:r>
              <a:rPr lang="en-US" sz="320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Judge0 CE (via RapidAPI).</a:t>
            </a:r>
          </a:p>
          <a:p>
            <a:pPr algn="l">
              <a:lnSpc>
                <a:spcPts val="3845"/>
              </a:lnSpc>
            </a:pPr>
            <a:r>
              <a:rPr lang="en-US" sz="320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Video/Audio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PeerJS (WebRTC) + Metered.ca TURN server.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725783">
            <a:off x="14010186" y="-2984264"/>
            <a:ext cx="6915214" cy="6923869"/>
          </a:xfrm>
          <a:custGeom>
            <a:avLst/>
            <a:gdLst/>
            <a:ahLst/>
            <a:cxnLst/>
            <a:rect r="r" b="b" t="t" l="l"/>
            <a:pathLst>
              <a:path h="6923869" w="6915214">
                <a:moveTo>
                  <a:pt x="0" y="0"/>
                </a:moveTo>
                <a:lnTo>
                  <a:pt x="6915214" y="0"/>
                </a:lnTo>
                <a:lnTo>
                  <a:pt x="6915214" y="6923868"/>
                </a:lnTo>
                <a:lnTo>
                  <a:pt x="0" y="6923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14638">
            <a:off x="-1198754" y="761221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478600"/>
            <a:ext cx="16230600" cy="6779700"/>
            <a:chOff x="0" y="0"/>
            <a:chExt cx="2384597" cy="996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4597" cy="996072"/>
            </a:xfrm>
            <a:custGeom>
              <a:avLst/>
              <a:gdLst/>
              <a:ahLst/>
              <a:cxnLst/>
              <a:rect r="r" b="b" t="t" l="l"/>
              <a:pathLst>
                <a:path h="996072" w="2384597">
                  <a:moveTo>
                    <a:pt x="16695" y="0"/>
                  </a:moveTo>
                  <a:lnTo>
                    <a:pt x="2367902" y="0"/>
                  </a:lnTo>
                  <a:cubicBezTo>
                    <a:pt x="2372329" y="0"/>
                    <a:pt x="2376576" y="1759"/>
                    <a:pt x="2379707" y="4890"/>
                  </a:cubicBezTo>
                  <a:cubicBezTo>
                    <a:pt x="2382838" y="8021"/>
                    <a:pt x="2384597" y="12267"/>
                    <a:pt x="2384597" y="16695"/>
                  </a:cubicBezTo>
                  <a:lnTo>
                    <a:pt x="2384597" y="979377"/>
                  </a:lnTo>
                  <a:cubicBezTo>
                    <a:pt x="2384597" y="983805"/>
                    <a:pt x="2382838" y="988051"/>
                    <a:pt x="2379707" y="991182"/>
                  </a:cubicBezTo>
                  <a:cubicBezTo>
                    <a:pt x="2376576" y="994313"/>
                    <a:pt x="2372329" y="996072"/>
                    <a:pt x="2367902" y="996072"/>
                  </a:cubicBezTo>
                  <a:lnTo>
                    <a:pt x="16695" y="996072"/>
                  </a:lnTo>
                  <a:cubicBezTo>
                    <a:pt x="12267" y="996072"/>
                    <a:pt x="8021" y="994313"/>
                    <a:pt x="4890" y="991182"/>
                  </a:cubicBezTo>
                  <a:cubicBezTo>
                    <a:pt x="1759" y="988051"/>
                    <a:pt x="0" y="983805"/>
                    <a:pt x="0" y="979377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84597" cy="1034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704441" y="9496137"/>
            <a:ext cx="1810465" cy="1819563"/>
          </a:xfrm>
          <a:custGeom>
            <a:avLst/>
            <a:gdLst/>
            <a:ahLst/>
            <a:cxnLst/>
            <a:rect r="r" b="b" t="t" l="l"/>
            <a:pathLst>
              <a:path h="1819563" w="1810465">
                <a:moveTo>
                  <a:pt x="0" y="0"/>
                </a:moveTo>
                <a:lnTo>
                  <a:pt x="1810465" y="0"/>
                </a:lnTo>
                <a:lnTo>
                  <a:pt x="1810465" y="1819563"/>
                </a:lnTo>
                <a:lnTo>
                  <a:pt x="0" y="1819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28700"/>
            <a:ext cx="1130576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Key</a:t>
            </a: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000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5141" y="3693222"/>
            <a:ext cx="14955450" cy="502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936" indent="-345968" lvl="1">
              <a:lnSpc>
                <a:spcPts val="4454"/>
              </a:lnSpc>
              <a:buFont typeface="Arial"/>
              <a:buChar char="•"/>
            </a:pPr>
            <a:r>
              <a:rPr lang="en-US" b="true" sz="320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Whiteboard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Synchronized drawing and presence using tldraw and Supabase.</a:t>
            </a:r>
          </a:p>
          <a:p>
            <a:pPr algn="l" marL="691936" indent="-345968" lvl="1">
              <a:lnSpc>
                <a:spcPts val="4454"/>
              </a:lnSpc>
              <a:buFont typeface="Arial"/>
              <a:buChar char="•"/>
            </a:pPr>
            <a:r>
              <a:rPr lang="en-US" b="true" sz="320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Integrated Code Workspace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Monaco editor with live code execution via Judge0 and a professional terminal UI.</a:t>
            </a:r>
          </a:p>
          <a:p>
            <a:pPr algn="l" marL="691936" indent="-345968" lvl="1">
              <a:lnSpc>
                <a:spcPts val="4454"/>
              </a:lnSpc>
              <a:buFont typeface="Arial"/>
              <a:buChar char="•"/>
            </a:pPr>
            <a:r>
              <a:rPr lang="en-US" b="true" sz="320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Seamless Access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Email/Google OAuth, persistent login, and a secure Guest/Offline mode.</a:t>
            </a:r>
          </a:p>
          <a:p>
            <a:pPr algn="l" marL="691936" indent="-345968" lvl="1">
              <a:lnSpc>
                <a:spcPts val="4454"/>
              </a:lnSpc>
              <a:buFont typeface="Arial"/>
              <a:buChar char="•"/>
            </a:pPr>
            <a:r>
              <a:rPr lang="en-US" b="true" sz="320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</a:t>
            </a:r>
            <a:r>
              <a:rPr lang="en-US" b="true" sz="320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oject Management</a:t>
            </a:r>
            <a:r>
              <a:rPr lang="en-US" sz="3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Create, rename, delete, and share projects instantly via generated room codes.</a:t>
            </a:r>
          </a:p>
          <a:p>
            <a:pPr algn="l">
              <a:lnSpc>
                <a:spcPts val="445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573813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Custom </a:t>
            </a:r>
            <a:r>
              <a:rPr lang="en-US" sz="6000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WebRTC Meeting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3128" y="2803727"/>
            <a:ext cx="17599919" cy="523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4287" indent="-407143" lvl="1">
              <a:lnSpc>
                <a:spcPts val="5242"/>
              </a:lnSpc>
              <a:buFont typeface="Arial"/>
              <a:buChar char="•"/>
            </a:pP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Peer-to-Peer Video: 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Built from scratch using PeerJS and Supabase Realtime signaling.</a:t>
            </a:r>
          </a:p>
          <a:p>
            <a:pPr algn="l" marL="814287" indent="-407143" lvl="1">
              <a:lnSpc>
                <a:spcPts val="5242"/>
              </a:lnSpc>
              <a:buFont typeface="Arial"/>
              <a:buChar char="•"/>
            </a:pP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eliable Connections: 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Metered.ca TURN server ensures connectivity across strict networks.</a:t>
            </a:r>
          </a:p>
          <a:p>
            <a:pPr algn="l" marL="814287" indent="-407143" lvl="1">
              <a:lnSpc>
                <a:spcPts val="5242"/>
              </a:lnSpc>
              <a:buFont typeface="Arial"/>
              <a:buChar char="•"/>
            </a:pP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</a:t>
            </a: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anced Controls: 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Dyn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amic video grid (1-6+ participants). Desktop screen sharing (via Electron desktopCapturer). 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In-m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eeting live chat.</a:t>
            </a:r>
          </a:p>
          <a:p>
            <a:pPr algn="l" marL="814287" indent="-407143" lvl="1">
              <a:lnSpc>
                <a:spcPts val="5242"/>
              </a:lnSpc>
              <a:buFont typeface="Arial"/>
              <a:buChar char="•"/>
            </a:pP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UX Focused: 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Floating, draggable meeting window that minimizes to a pill so it never blocks the workflow.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356" y="1676400"/>
            <a:ext cx="12923162" cy="7382356"/>
          </a:xfrm>
          <a:custGeom>
            <a:avLst/>
            <a:gdLst/>
            <a:ahLst/>
            <a:cxnLst/>
            <a:rect r="r" b="b" t="t" l="l"/>
            <a:pathLst>
              <a:path h="7382356" w="12923162">
                <a:moveTo>
                  <a:pt x="0" y="0"/>
                </a:moveTo>
                <a:lnTo>
                  <a:pt x="12923162" y="0"/>
                </a:lnTo>
                <a:lnTo>
                  <a:pt x="12923162" y="7382356"/>
                </a:lnTo>
                <a:lnTo>
                  <a:pt x="0" y="7382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505486">
            <a:off x="-3342274" y="7833716"/>
            <a:ext cx="6684547" cy="5712503"/>
          </a:xfrm>
          <a:custGeom>
            <a:avLst/>
            <a:gdLst/>
            <a:ahLst/>
            <a:cxnLst/>
            <a:rect r="r" b="b" t="t" l="l"/>
            <a:pathLst>
              <a:path h="5712503" w="6684547">
                <a:moveTo>
                  <a:pt x="0" y="0"/>
                </a:moveTo>
                <a:lnTo>
                  <a:pt x="6684548" y="0"/>
                </a:lnTo>
                <a:lnTo>
                  <a:pt x="6684548" y="5712503"/>
                </a:lnTo>
                <a:lnTo>
                  <a:pt x="0" y="5712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225535"/>
            <a:ext cx="16230600" cy="7672014"/>
            <a:chOff x="0" y="0"/>
            <a:chExt cx="5357284" cy="2532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57284" cy="2532325"/>
            </a:xfrm>
            <a:custGeom>
              <a:avLst/>
              <a:gdLst/>
              <a:ahLst/>
              <a:cxnLst/>
              <a:rect r="r" b="b" t="t" l="l"/>
              <a:pathLst>
                <a:path h="2532325" w="5357284">
                  <a:moveTo>
                    <a:pt x="16695" y="0"/>
                  </a:moveTo>
                  <a:lnTo>
                    <a:pt x="5340589" y="0"/>
                  </a:lnTo>
                  <a:cubicBezTo>
                    <a:pt x="5349810" y="0"/>
                    <a:pt x="5357284" y="7475"/>
                    <a:pt x="5357284" y="16695"/>
                  </a:cubicBezTo>
                  <a:lnTo>
                    <a:pt x="5357284" y="2515630"/>
                  </a:lnTo>
                  <a:cubicBezTo>
                    <a:pt x="5357284" y="2520058"/>
                    <a:pt x="5355525" y="2524304"/>
                    <a:pt x="5352394" y="2527435"/>
                  </a:cubicBezTo>
                  <a:cubicBezTo>
                    <a:pt x="5349263" y="2530566"/>
                    <a:pt x="5345017" y="2532325"/>
                    <a:pt x="5340589" y="2532325"/>
                  </a:cubicBezTo>
                  <a:lnTo>
                    <a:pt x="16695" y="2532325"/>
                  </a:lnTo>
                  <a:cubicBezTo>
                    <a:pt x="7475" y="2532325"/>
                    <a:pt x="0" y="2524851"/>
                    <a:pt x="0" y="2515630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57284" cy="257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36386" y="2448598"/>
            <a:ext cx="15415228" cy="7225888"/>
          </a:xfrm>
          <a:custGeom>
            <a:avLst/>
            <a:gdLst/>
            <a:ahLst/>
            <a:cxnLst/>
            <a:rect r="r" b="b" t="t" l="l"/>
            <a:pathLst>
              <a:path h="7225888" w="15415228">
                <a:moveTo>
                  <a:pt x="0" y="0"/>
                </a:moveTo>
                <a:lnTo>
                  <a:pt x="15415228" y="0"/>
                </a:lnTo>
                <a:lnTo>
                  <a:pt x="15415228" y="7225888"/>
                </a:lnTo>
                <a:lnTo>
                  <a:pt x="0" y="7225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45306"/>
            <a:ext cx="7328334" cy="82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1"/>
              </a:lnSpc>
            </a:pPr>
            <a:r>
              <a:rPr lang="en-US" sz="5359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5359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 Platform 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62063"/>
            <a:ext cx="162306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1"/>
              </a:lnSpc>
            </a:pPr>
            <a:r>
              <a:rPr lang="en-US" sz="5359" u="sng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  <a:hlinkClick r:id="rId8" tooltip="https://collabboard-web.vercel.app"/>
              </a:rPr>
              <a:t>https://collabboard-web.vercel.app/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3128" y="1822206"/>
            <a:ext cx="17599919" cy="705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4287" indent="-407143" lvl="1">
              <a:lnSpc>
                <a:spcPts val="6260"/>
              </a:lnSpc>
              <a:buFont typeface="Arial"/>
              <a:buChar char="•"/>
            </a:pP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Dynamic Marketing Hub: 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Animated hero section with GSAP, custom cursors, and 3D hover effects.</a:t>
            </a:r>
          </a:p>
          <a:p>
            <a:pPr algn="l" marL="814287" indent="-407143" lvl="1">
              <a:lnSpc>
                <a:spcPts val="6260"/>
              </a:lnSpc>
              <a:buFont typeface="Arial"/>
              <a:buChar char="•"/>
            </a:pP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</a:t>
            </a: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ated Changelog: 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Live GitHub Releases API feed to display updates in 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vertical timeline.</a:t>
            </a:r>
          </a:p>
          <a:p>
            <a:pPr algn="l" marL="814287" indent="-407143" lvl="1">
              <a:lnSpc>
                <a:spcPts val="6260"/>
              </a:lnSpc>
              <a:buFont typeface="Arial"/>
              <a:buChar char="•"/>
            </a:pP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Distribution: 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 downloads for Windows, macOS, a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nd Linux formats.</a:t>
            </a:r>
          </a:p>
          <a:p>
            <a:pPr algn="l" marL="814287" indent="-407143" lvl="1">
              <a:lnSpc>
                <a:spcPts val="6260"/>
              </a:lnSpc>
              <a:buFont typeface="Arial"/>
              <a:buChar char="•"/>
            </a:pPr>
            <a:r>
              <a:rPr lang="en-US" b="true" sz="37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SEO &amp; Analytics: </a:t>
            </a:r>
            <a:r>
              <a:rPr lang="en-US" sz="37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Fully optimized with GA4, Microsoft Clarity, and dynamic sitemaps.</a:t>
            </a:r>
          </a:p>
          <a:p>
            <a:pPr algn="l">
              <a:lnSpc>
                <a:spcPts val="626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10797"/>
            <a:ext cx="7540262" cy="84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7"/>
              </a:lnSpc>
            </a:pPr>
            <a:r>
              <a:rPr lang="en-US" sz="5514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5514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 Platform -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356" y="1676400"/>
            <a:ext cx="12923162" cy="7382356"/>
          </a:xfrm>
          <a:custGeom>
            <a:avLst/>
            <a:gdLst/>
            <a:ahLst/>
            <a:cxnLst/>
            <a:rect r="r" b="b" t="t" l="l"/>
            <a:pathLst>
              <a:path h="7382356" w="12923162">
                <a:moveTo>
                  <a:pt x="0" y="0"/>
                </a:moveTo>
                <a:lnTo>
                  <a:pt x="12923162" y="0"/>
                </a:lnTo>
                <a:lnTo>
                  <a:pt x="12923162" y="7382356"/>
                </a:lnTo>
                <a:lnTo>
                  <a:pt x="0" y="7382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505486">
            <a:off x="-3342274" y="7833716"/>
            <a:ext cx="6684547" cy="5712503"/>
          </a:xfrm>
          <a:custGeom>
            <a:avLst/>
            <a:gdLst/>
            <a:ahLst/>
            <a:cxnLst/>
            <a:rect r="r" b="b" t="t" l="l"/>
            <a:pathLst>
              <a:path h="5712503" w="6684547">
                <a:moveTo>
                  <a:pt x="0" y="0"/>
                </a:moveTo>
                <a:lnTo>
                  <a:pt x="6684548" y="0"/>
                </a:lnTo>
                <a:lnTo>
                  <a:pt x="6684548" y="5712503"/>
                </a:lnTo>
                <a:lnTo>
                  <a:pt x="0" y="5712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057408" y="2225535"/>
            <a:ext cx="14173185" cy="7672014"/>
            <a:chOff x="0" y="0"/>
            <a:chExt cx="4678186" cy="2532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78187" cy="2532325"/>
            </a:xfrm>
            <a:custGeom>
              <a:avLst/>
              <a:gdLst/>
              <a:ahLst/>
              <a:cxnLst/>
              <a:rect r="r" b="b" t="t" l="l"/>
              <a:pathLst>
                <a:path h="2532325" w="4678187">
                  <a:moveTo>
                    <a:pt x="19118" y="0"/>
                  </a:moveTo>
                  <a:lnTo>
                    <a:pt x="4659068" y="0"/>
                  </a:lnTo>
                  <a:cubicBezTo>
                    <a:pt x="4669627" y="0"/>
                    <a:pt x="4678187" y="8560"/>
                    <a:pt x="4678187" y="19118"/>
                  </a:cubicBezTo>
                  <a:lnTo>
                    <a:pt x="4678187" y="2513207"/>
                  </a:lnTo>
                  <a:cubicBezTo>
                    <a:pt x="4678187" y="2523766"/>
                    <a:pt x="4669627" y="2532325"/>
                    <a:pt x="4659068" y="2532325"/>
                  </a:cubicBezTo>
                  <a:lnTo>
                    <a:pt x="19118" y="2532325"/>
                  </a:lnTo>
                  <a:cubicBezTo>
                    <a:pt x="8560" y="2532325"/>
                    <a:pt x="0" y="2523766"/>
                    <a:pt x="0" y="2513207"/>
                  </a:cubicBezTo>
                  <a:lnTo>
                    <a:pt x="0" y="19118"/>
                  </a:lnTo>
                  <a:cubicBezTo>
                    <a:pt x="0" y="8560"/>
                    <a:pt x="8560" y="0"/>
                    <a:pt x="191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78186" cy="257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408135" y="2391403"/>
            <a:ext cx="13471731" cy="7291574"/>
          </a:xfrm>
          <a:custGeom>
            <a:avLst/>
            <a:gdLst/>
            <a:ahLst/>
            <a:cxnLst/>
            <a:rect r="r" b="b" t="t" l="l"/>
            <a:pathLst>
              <a:path h="7291574" w="13471731">
                <a:moveTo>
                  <a:pt x="0" y="0"/>
                </a:moveTo>
                <a:lnTo>
                  <a:pt x="13471730" y="0"/>
                </a:lnTo>
                <a:lnTo>
                  <a:pt x="13471730" y="7291575"/>
                </a:lnTo>
                <a:lnTo>
                  <a:pt x="0" y="7291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57250"/>
            <a:ext cx="1194960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1"/>
              </a:lnSpc>
            </a:pPr>
            <a:r>
              <a:rPr lang="en-US" sz="5359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5359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Desktop Application -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06464"/>
            <a:ext cx="16523905" cy="760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504" indent="-329252" lvl="1">
              <a:lnSpc>
                <a:spcPts val="5063"/>
              </a:lnSpc>
              <a:buFont typeface="Arial"/>
              <a:buChar char="•"/>
            </a:pPr>
            <a:r>
              <a:rPr lang="en-US" b="true" sz="30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Unified Environment: </a:t>
            </a:r>
            <a:r>
              <a:rPr lang="en-US" sz="30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 Electron-based powerhouse combining visual planning, coding, and communication into a single window.</a:t>
            </a:r>
          </a:p>
          <a:p>
            <a:pPr algn="l" marL="658504" indent="-329252" lvl="1">
              <a:lnSpc>
                <a:spcPts val="5063"/>
              </a:lnSpc>
              <a:buFont typeface="Arial"/>
              <a:buChar char="•"/>
            </a:pPr>
            <a:r>
              <a:rPr lang="en-US" b="true" sz="30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Infinite Collaborative Canvas: </a:t>
            </a:r>
            <a:r>
              <a:rPr lang="en-US" sz="30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Real-time whiteboard powered by tldraw and Supabase presence, allowing multiple users to sketch architectures simultaneously.</a:t>
            </a:r>
          </a:p>
          <a:p>
            <a:pPr algn="l" marL="658504" indent="-329252" lvl="1">
              <a:lnSpc>
                <a:spcPts val="5063"/>
              </a:lnSpc>
              <a:buFont typeface="Arial"/>
              <a:buChar char="•"/>
            </a:pPr>
            <a:r>
              <a:rPr lang="en-US" b="true" sz="30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</a:t>
            </a:r>
            <a:r>
              <a:rPr lang="en-US" b="true" sz="30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ated Execution Engine: </a:t>
            </a:r>
            <a:r>
              <a:rPr lang="en-US" sz="30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Built-in Monaco code editor with live compilation via Judge0, featuring interactive standard input and </a:t>
            </a:r>
            <a:r>
              <a:rPr lang="en-US" sz="30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professional terminal UI.</a:t>
            </a:r>
          </a:p>
          <a:p>
            <a:pPr algn="l" marL="658504" indent="-329252" lvl="1">
              <a:lnSpc>
                <a:spcPts val="5063"/>
              </a:lnSpc>
              <a:buFont typeface="Arial"/>
              <a:buChar char="•"/>
            </a:pPr>
            <a:r>
              <a:rPr lang="en-US" b="true" sz="30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Native OS Capabilities: </a:t>
            </a:r>
            <a:r>
              <a:rPr lang="en-US" sz="30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Leverages Electron for direct clipboard access (bypassing browser restrictions) a</a:t>
            </a:r>
            <a:r>
              <a:rPr lang="en-US" sz="30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nd seamless desktop screen sharing.</a:t>
            </a:r>
          </a:p>
          <a:p>
            <a:pPr algn="l" marL="658504" indent="-329252" lvl="1">
              <a:lnSpc>
                <a:spcPts val="5063"/>
              </a:lnSpc>
              <a:buFont typeface="Arial"/>
              <a:buChar char="•"/>
            </a:pPr>
            <a:r>
              <a:rPr lang="en-US" b="true" sz="30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Floating Communication Hub: </a:t>
            </a:r>
            <a:r>
              <a:rPr lang="en-US" sz="30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 WebRTC video calling that minimizes into a draggable, non-blocking widget, ensuring you never lose sight of your work.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10797"/>
            <a:ext cx="1011994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7"/>
              </a:lnSpc>
            </a:pPr>
            <a:r>
              <a:rPr lang="en-US" sz="5514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5514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Desktop Application</a:t>
            </a:r>
            <a:r>
              <a:rPr lang="en-US" sz="5514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 -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46624" y="1586286"/>
            <a:ext cx="14394752" cy="7672014"/>
            <a:chOff x="0" y="0"/>
            <a:chExt cx="4751320" cy="253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51320" cy="2532325"/>
            </a:xfrm>
            <a:custGeom>
              <a:avLst/>
              <a:gdLst/>
              <a:ahLst/>
              <a:cxnLst/>
              <a:rect r="r" b="b" t="t" l="l"/>
              <a:pathLst>
                <a:path h="2532325" w="4751320">
                  <a:moveTo>
                    <a:pt x="18824" y="0"/>
                  </a:moveTo>
                  <a:lnTo>
                    <a:pt x="4732496" y="0"/>
                  </a:lnTo>
                  <a:cubicBezTo>
                    <a:pt x="4742892" y="0"/>
                    <a:pt x="4751320" y="8428"/>
                    <a:pt x="4751320" y="18824"/>
                  </a:cubicBezTo>
                  <a:lnTo>
                    <a:pt x="4751320" y="2513501"/>
                  </a:lnTo>
                  <a:cubicBezTo>
                    <a:pt x="4751320" y="2518494"/>
                    <a:pt x="4749337" y="2523281"/>
                    <a:pt x="4745806" y="2526812"/>
                  </a:cubicBezTo>
                  <a:cubicBezTo>
                    <a:pt x="4742276" y="2530342"/>
                    <a:pt x="4737488" y="2532325"/>
                    <a:pt x="4732496" y="2532325"/>
                  </a:cubicBezTo>
                  <a:lnTo>
                    <a:pt x="18824" y="2532325"/>
                  </a:lnTo>
                  <a:cubicBezTo>
                    <a:pt x="13832" y="2532325"/>
                    <a:pt x="9044" y="2530342"/>
                    <a:pt x="5513" y="2526812"/>
                  </a:cubicBezTo>
                  <a:cubicBezTo>
                    <a:pt x="1983" y="2523281"/>
                    <a:pt x="0" y="2518494"/>
                    <a:pt x="0" y="2513501"/>
                  </a:cubicBezTo>
                  <a:lnTo>
                    <a:pt x="0" y="18824"/>
                  </a:lnTo>
                  <a:cubicBezTo>
                    <a:pt x="0" y="13832"/>
                    <a:pt x="1983" y="9044"/>
                    <a:pt x="5513" y="5513"/>
                  </a:cubicBezTo>
                  <a:cubicBezTo>
                    <a:pt x="9044" y="1983"/>
                    <a:pt x="13832" y="0"/>
                    <a:pt x="188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51320" cy="257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66808" y="1762610"/>
            <a:ext cx="13554383" cy="7336310"/>
          </a:xfrm>
          <a:custGeom>
            <a:avLst/>
            <a:gdLst/>
            <a:ahLst/>
            <a:cxnLst/>
            <a:rect r="r" b="b" t="t" l="l"/>
            <a:pathLst>
              <a:path h="7336310" w="13554383">
                <a:moveTo>
                  <a:pt x="0" y="0"/>
                </a:moveTo>
                <a:lnTo>
                  <a:pt x="13554384" y="0"/>
                </a:lnTo>
                <a:lnTo>
                  <a:pt x="13554384" y="7336310"/>
                </a:lnTo>
                <a:lnTo>
                  <a:pt x="0" y="7336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46624" y="1586286"/>
            <a:ext cx="14394752" cy="7672014"/>
            <a:chOff x="0" y="0"/>
            <a:chExt cx="4751320" cy="253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51320" cy="2532325"/>
            </a:xfrm>
            <a:custGeom>
              <a:avLst/>
              <a:gdLst/>
              <a:ahLst/>
              <a:cxnLst/>
              <a:rect r="r" b="b" t="t" l="l"/>
              <a:pathLst>
                <a:path h="2532325" w="4751320">
                  <a:moveTo>
                    <a:pt x="18824" y="0"/>
                  </a:moveTo>
                  <a:lnTo>
                    <a:pt x="4732496" y="0"/>
                  </a:lnTo>
                  <a:cubicBezTo>
                    <a:pt x="4742892" y="0"/>
                    <a:pt x="4751320" y="8428"/>
                    <a:pt x="4751320" y="18824"/>
                  </a:cubicBezTo>
                  <a:lnTo>
                    <a:pt x="4751320" y="2513501"/>
                  </a:lnTo>
                  <a:cubicBezTo>
                    <a:pt x="4751320" y="2518494"/>
                    <a:pt x="4749337" y="2523281"/>
                    <a:pt x="4745806" y="2526812"/>
                  </a:cubicBezTo>
                  <a:cubicBezTo>
                    <a:pt x="4742276" y="2530342"/>
                    <a:pt x="4737488" y="2532325"/>
                    <a:pt x="4732496" y="2532325"/>
                  </a:cubicBezTo>
                  <a:lnTo>
                    <a:pt x="18824" y="2532325"/>
                  </a:lnTo>
                  <a:cubicBezTo>
                    <a:pt x="13832" y="2532325"/>
                    <a:pt x="9044" y="2530342"/>
                    <a:pt x="5513" y="2526812"/>
                  </a:cubicBezTo>
                  <a:cubicBezTo>
                    <a:pt x="1983" y="2523281"/>
                    <a:pt x="0" y="2518494"/>
                    <a:pt x="0" y="2513501"/>
                  </a:cubicBezTo>
                  <a:lnTo>
                    <a:pt x="0" y="18824"/>
                  </a:lnTo>
                  <a:cubicBezTo>
                    <a:pt x="0" y="13832"/>
                    <a:pt x="1983" y="9044"/>
                    <a:pt x="5513" y="5513"/>
                  </a:cubicBezTo>
                  <a:cubicBezTo>
                    <a:pt x="9044" y="1983"/>
                    <a:pt x="13832" y="0"/>
                    <a:pt x="188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51320" cy="257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66808" y="1762610"/>
            <a:ext cx="13554383" cy="7336310"/>
          </a:xfrm>
          <a:custGeom>
            <a:avLst/>
            <a:gdLst/>
            <a:ahLst/>
            <a:cxnLst/>
            <a:rect r="r" b="b" t="t" l="l"/>
            <a:pathLst>
              <a:path h="7336310" w="13554383">
                <a:moveTo>
                  <a:pt x="0" y="0"/>
                </a:moveTo>
                <a:lnTo>
                  <a:pt x="13554384" y="0"/>
                </a:lnTo>
                <a:lnTo>
                  <a:pt x="13554384" y="7336310"/>
                </a:lnTo>
                <a:lnTo>
                  <a:pt x="0" y="7336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46624" y="1586286"/>
            <a:ext cx="14394752" cy="7672014"/>
            <a:chOff x="0" y="0"/>
            <a:chExt cx="4751320" cy="253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51320" cy="2532325"/>
            </a:xfrm>
            <a:custGeom>
              <a:avLst/>
              <a:gdLst/>
              <a:ahLst/>
              <a:cxnLst/>
              <a:rect r="r" b="b" t="t" l="l"/>
              <a:pathLst>
                <a:path h="2532325" w="4751320">
                  <a:moveTo>
                    <a:pt x="18824" y="0"/>
                  </a:moveTo>
                  <a:lnTo>
                    <a:pt x="4732496" y="0"/>
                  </a:lnTo>
                  <a:cubicBezTo>
                    <a:pt x="4742892" y="0"/>
                    <a:pt x="4751320" y="8428"/>
                    <a:pt x="4751320" y="18824"/>
                  </a:cubicBezTo>
                  <a:lnTo>
                    <a:pt x="4751320" y="2513501"/>
                  </a:lnTo>
                  <a:cubicBezTo>
                    <a:pt x="4751320" y="2518494"/>
                    <a:pt x="4749337" y="2523281"/>
                    <a:pt x="4745806" y="2526812"/>
                  </a:cubicBezTo>
                  <a:cubicBezTo>
                    <a:pt x="4742276" y="2530342"/>
                    <a:pt x="4737488" y="2532325"/>
                    <a:pt x="4732496" y="2532325"/>
                  </a:cubicBezTo>
                  <a:lnTo>
                    <a:pt x="18824" y="2532325"/>
                  </a:lnTo>
                  <a:cubicBezTo>
                    <a:pt x="13832" y="2532325"/>
                    <a:pt x="9044" y="2530342"/>
                    <a:pt x="5513" y="2526812"/>
                  </a:cubicBezTo>
                  <a:cubicBezTo>
                    <a:pt x="1983" y="2523281"/>
                    <a:pt x="0" y="2518494"/>
                    <a:pt x="0" y="2513501"/>
                  </a:cubicBezTo>
                  <a:lnTo>
                    <a:pt x="0" y="18824"/>
                  </a:lnTo>
                  <a:cubicBezTo>
                    <a:pt x="0" y="13832"/>
                    <a:pt x="1983" y="9044"/>
                    <a:pt x="5513" y="5513"/>
                  </a:cubicBezTo>
                  <a:cubicBezTo>
                    <a:pt x="9044" y="1983"/>
                    <a:pt x="13832" y="0"/>
                    <a:pt x="188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51320" cy="257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441297" y="1811212"/>
            <a:ext cx="13405406" cy="7222162"/>
          </a:xfrm>
          <a:custGeom>
            <a:avLst/>
            <a:gdLst/>
            <a:ahLst/>
            <a:cxnLst/>
            <a:rect r="r" b="b" t="t" l="l"/>
            <a:pathLst>
              <a:path h="7222162" w="13405406">
                <a:moveTo>
                  <a:pt x="0" y="0"/>
                </a:moveTo>
                <a:lnTo>
                  <a:pt x="13405406" y="0"/>
                </a:lnTo>
                <a:lnTo>
                  <a:pt x="13405406" y="7222162"/>
                </a:lnTo>
                <a:lnTo>
                  <a:pt x="0" y="7222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46624" y="1586286"/>
            <a:ext cx="14394752" cy="7672014"/>
            <a:chOff x="0" y="0"/>
            <a:chExt cx="4751320" cy="253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51320" cy="2532325"/>
            </a:xfrm>
            <a:custGeom>
              <a:avLst/>
              <a:gdLst/>
              <a:ahLst/>
              <a:cxnLst/>
              <a:rect r="r" b="b" t="t" l="l"/>
              <a:pathLst>
                <a:path h="2532325" w="4751320">
                  <a:moveTo>
                    <a:pt x="18824" y="0"/>
                  </a:moveTo>
                  <a:lnTo>
                    <a:pt x="4732496" y="0"/>
                  </a:lnTo>
                  <a:cubicBezTo>
                    <a:pt x="4742892" y="0"/>
                    <a:pt x="4751320" y="8428"/>
                    <a:pt x="4751320" y="18824"/>
                  </a:cubicBezTo>
                  <a:lnTo>
                    <a:pt x="4751320" y="2513501"/>
                  </a:lnTo>
                  <a:cubicBezTo>
                    <a:pt x="4751320" y="2518494"/>
                    <a:pt x="4749337" y="2523281"/>
                    <a:pt x="4745806" y="2526812"/>
                  </a:cubicBezTo>
                  <a:cubicBezTo>
                    <a:pt x="4742276" y="2530342"/>
                    <a:pt x="4737488" y="2532325"/>
                    <a:pt x="4732496" y="2532325"/>
                  </a:cubicBezTo>
                  <a:lnTo>
                    <a:pt x="18824" y="2532325"/>
                  </a:lnTo>
                  <a:cubicBezTo>
                    <a:pt x="13832" y="2532325"/>
                    <a:pt x="9044" y="2530342"/>
                    <a:pt x="5513" y="2526812"/>
                  </a:cubicBezTo>
                  <a:cubicBezTo>
                    <a:pt x="1983" y="2523281"/>
                    <a:pt x="0" y="2518494"/>
                    <a:pt x="0" y="2513501"/>
                  </a:cubicBezTo>
                  <a:lnTo>
                    <a:pt x="0" y="18824"/>
                  </a:lnTo>
                  <a:cubicBezTo>
                    <a:pt x="0" y="13832"/>
                    <a:pt x="1983" y="9044"/>
                    <a:pt x="5513" y="5513"/>
                  </a:cubicBezTo>
                  <a:cubicBezTo>
                    <a:pt x="9044" y="1983"/>
                    <a:pt x="13832" y="0"/>
                    <a:pt x="188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51320" cy="257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47755" y="1769311"/>
            <a:ext cx="13592490" cy="7305964"/>
          </a:xfrm>
          <a:custGeom>
            <a:avLst/>
            <a:gdLst/>
            <a:ahLst/>
            <a:cxnLst/>
            <a:rect r="r" b="b" t="t" l="l"/>
            <a:pathLst>
              <a:path h="7305964" w="13592490">
                <a:moveTo>
                  <a:pt x="0" y="0"/>
                </a:moveTo>
                <a:lnTo>
                  <a:pt x="13592490" y="0"/>
                </a:lnTo>
                <a:lnTo>
                  <a:pt x="13592490" y="7305964"/>
                </a:lnTo>
                <a:lnTo>
                  <a:pt x="0" y="7305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46624" y="1586286"/>
            <a:ext cx="14394752" cy="7672014"/>
            <a:chOff x="0" y="0"/>
            <a:chExt cx="4751320" cy="253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51320" cy="2532325"/>
            </a:xfrm>
            <a:custGeom>
              <a:avLst/>
              <a:gdLst/>
              <a:ahLst/>
              <a:cxnLst/>
              <a:rect r="r" b="b" t="t" l="l"/>
              <a:pathLst>
                <a:path h="2532325" w="4751320">
                  <a:moveTo>
                    <a:pt x="18824" y="0"/>
                  </a:moveTo>
                  <a:lnTo>
                    <a:pt x="4732496" y="0"/>
                  </a:lnTo>
                  <a:cubicBezTo>
                    <a:pt x="4742892" y="0"/>
                    <a:pt x="4751320" y="8428"/>
                    <a:pt x="4751320" y="18824"/>
                  </a:cubicBezTo>
                  <a:lnTo>
                    <a:pt x="4751320" y="2513501"/>
                  </a:lnTo>
                  <a:cubicBezTo>
                    <a:pt x="4751320" y="2518494"/>
                    <a:pt x="4749337" y="2523281"/>
                    <a:pt x="4745806" y="2526812"/>
                  </a:cubicBezTo>
                  <a:cubicBezTo>
                    <a:pt x="4742276" y="2530342"/>
                    <a:pt x="4737488" y="2532325"/>
                    <a:pt x="4732496" y="2532325"/>
                  </a:cubicBezTo>
                  <a:lnTo>
                    <a:pt x="18824" y="2532325"/>
                  </a:lnTo>
                  <a:cubicBezTo>
                    <a:pt x="13832" y="2532325"/>
                    <a:pt x="9044" y="2530342"/>
                    <a:pt x="5513" y="2526812"/>
                  </a:cubicBezTo>
                  <a:cubicBezTo>
                    <a:pt x="1983" y="2523281"/>
                    <a:pt x="0" y="2518494"/>
                    <a:pt x="0" y="2513501"/>
                  </a:cubicBezTo>
                  <a:lnTo>
                    <a:pt x="0" y="18824"/>
                  </a:lnTo>
                  <a:cubicBezTo>
                    <a:pt x="0" y="13832"/>
                    <a:pt x="1983" y="9044"/>
                    <a:pt x="5513" y="5513"/>
                  </a:cubicBezTo>
                  <a:cubicBezTo>
                    <a:pt x="9044" y="1983"/>
                    <a:pt x="13832" y="0"/>
                    <a:pt x="188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51320" cy="257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66808" y="1762610"/>
            <a:ext cx="13554383" cy="7319367"/>
          </a:xfrm>
          <a:custGeom>
            <a:avLst/>
            <a:gdLst/>
            <a:ahLst/>
            <a:cxnLst/>
            <a:rect r="r" b="b" t="t" l="l"/>
            <a:pathLst>
              <a:path h="7319367" w="13554383">
                <a:moveTo>
                  <a:pt x="0" y="0"/>
                </a:moveTo>
                <a:lnTo>
                  <a:pt x="13554384" y="0"/>
                </a:lnTo>
                <a:lnTo>
                  <a:pt x="13554384" y="7319367"/>
                </a:lnTo>
                <a:lnTo>
                  <a:pt x="0" y="7319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821680" y="2969621"/>
            <a:ext cx="15586438" cy="1558643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C68DF">
                    <a:alpha val="100000"/>
                  </a:srgbClr>
                </a:gs>
                <a:gs pos="100000">
                  <a:srgbClr val="68A0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635231" y="-69170"/>
            <a:ext cx="3569799" cy="3038791"/>
          </a:xfrm>
          <a:custGeom>
            <a:avLst/>
            <a:gdLst/>
            <a:ahLst/>
            <a:cxnLst/>
            <a:rect r="r" b="b" t="t" l="l"/>
            <a:pathLst>
              <a:path h="3038791" w="3569799">
                <a:moveTo>
                  <a:pt x="0" y="0"/>
                </a:moveTo>
                <a:lnTo>
                  <a:pt x="3569799" y="0"/>
                </a:lnTo>
                <a:lnTo>
                  <a:pt x="3569799" y="3038791"/>
                </a:lnTo>
                <a:lnTo>
                  <a:pt x="0" y="3038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27098">
            <a:off x="8913722" y="-5395070"/>
            <a:ext cx="15835434" cy="15835434"/>
          </a:xfrm>
          <a:custGeom>
            <a:avLst/>
            <a:gdLst/>
            <a:ahLst/>
            <a:cxnLst/>
            <a:rect r="r" b="b" t="t" l="l"/>
            <a:pathLst>
              <a:path h="15835434" w="15835434">
                <a:moveTo>
                  <a:pt x="0" y="0"/>
                </a:moveTo>
                <a:lnTo>
                  <a:pt x="15835434" y="0"/>
                </a:lnTo>
                <a:lnTo>
                  <a:pt x="15835434" y="15835434"/>
                </a:lnTo>
                <a:lnTo>
                  <a:pt x="0" y="15835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059771" y="3225460"/>
            <a:ext cx="5525297" cy="3836080"/>
            <a:chOff x="0" y="0"/>
            <a:chExt cx="7367062" cy="511477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425567" y="219075"/>
              <a:ext cx="6515929" cy="4112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654"/>
                </a:lnSpc>
              </a:pPr>
              <a:r>
                <a:rPr lang="en-US" sz="11654">
                  <a:solidFill>
                    <a:srgbClr val="322C2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Thank </a:t>
              </a:r>
              <a:r>
                <a:rPr lang="en-US" sz="11654" b="true">
                  <a:solidFill>
                    <a:srgbClr val="322C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You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620955"/>
              <a:ext cx="7367062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DAHECJjd3N0</dc:identifier>
  <dcterms:modified xsi:type="dcterms:W3CDTF">2011-08-01T06:04:30Z</dcterms:modified>
  <cp:revision>1</cp:revision>
  <dc:title>Collabboard V2 PPT</dc:title>
</cp:coreProperties>
</file>